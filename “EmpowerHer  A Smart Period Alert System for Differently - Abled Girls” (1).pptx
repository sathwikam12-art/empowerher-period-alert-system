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eague Spartan" charset="1" panose="00000800000000000000"/>
      <p:regular r:id="rId14"/>
    </p:embeddedFont>
    <p:embeddedFont>
      <p:font typeface="Archivo Black" charset="1" panose="020B0A03020202020B04"/>
      <p:regular r:id="rId15"/>
    </p:embeddedFont>
    <p:embeddedFont>
      <p:font typeface="Arial" charset="1" panose="020B0502020202020204"/>
      <p:regular r:id="rId16"/>
    </p:embeddedFont>
    <p:embeddedFont>
      <p:font typeface="Arial Bold" charset="1" panose="020B0802020202020204"/>
      <p:regular r:id="rId17"/>
    </p:embeddedFont>
    <p:embeddedFont>
      <p:font typeface="Genty"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8EA"/>
        </a:solidFill>
      </p:bgPr>
    </p:bg>
    <p:spTree>
      <p:nvGrpSpPr>
        <p:cNvPr id="1" name=""/>
        <p:cNvGrpSpPr/>
        <p:nvPr/>
      </p:nvGrpSpPr>
      <p:grpSpPr>
        <a:xfrm>
          <a:off x="0" y="0"/>
          <a:ext cx="0" cy="0"/>
          <a:chOff x="0" y="0"/>
          <a:chExt cx="0" cy="0"/>
        </a:xfrm>
      </p:grpSpPr>
      <p:sp>
        <p:nvSpPr>
          <p:cNvPr name="TextBox 2" id="2"/>
          <p:cNvSpPr txBox="true"/>
          <p:nvPr/>
        </p:nvSpPr>
        <p:spPr>
          <a:xfrm rot="0">
            <a:off x="1028700" y="2319566"/>
            <a:ext cx="16638976" cy="2379724"/>
          </a:xfrm>
          <a:prstGeom prst="rect">
            <a:avLst/>
          </a:prstGeom>
        </p:spPr>
        <p:txBody>
          <a:bodyPr anchor="t" rtlCol="false" tIns="0" lIns="0" bIns="0" rIns="0">
            <a:spAutoFit/>
          </a:bodyPr>
          <a:lstStyle/>
          <a:p>
            <a:pPr algn="ctr">
              <a:lnSpc>
                <a:spcPts val="9534"/>
              </a:lnSpc>
            </a:pPr>
            <a:r>
              <a:rPr lang="en-US" sz="6810">
                <a:solidFill>
                  <a:srgbClr val="503530"/>
                </a:solidFill>
                <a:latin typeface="League Spartan"/>
                <a:ea typeface="League Spartan"/>
                <a:cs typeface="League Spartan"/>
                <a:sym typeface="League Spartan"/>
              </a:rPr>
              <a:t>“</a:t>
            </a:r>
            <a:r>
              <a:rPr lang="en-US" sz="6810" u="sng">
                <a:solidFill>
                  <a:srgbClr val="000000"/>
                </a:solidFill>
                <a:latin typeface="League Spartan"/>
                <a:ea typeface="League Spartan"/>
                <a:cs typeface="League Spartan"/>
                <a:sym typeface="League Spartan"/>
              </a:rPr>
              <a:t>EmpowerHer</a:t>
            </a:r>
            <a:r>
              <a:rPr lang="en-US" sz="6810" u="sng">
                <a:solidFill>
                  <a:srgbClr val="503530"/>
                </a:solidFill>
                <a:latin typeface="League Spartan"/>
                <a:ea typeface="League Spartan"/>
                <a:cs typeface="League Spartan"/>
                <a:sym typeface="League Spartan"/>
              </a:rPr>
              <a:t> </a:t>
            </a:r>
            <a:r>
              <a:rPr lang="en-US" sz="6810">
                <a:solidFill>
                  <a:srgbClr val="503530"/>
                </a:solidFill>
                <a:latin typeface="League Spartan"/>
                <a:ea typeface="League Spartan"/>
                <a:cs typeface="League Spartan"/>
                <a:sym typeface="League Spartan"/>
              </a:rPr>
              <a:t>: A Smart Period Alert System for Differently - Abled Girls”</a:t>
            </a:r>
          </a:p>
        </p:txBody>
      </p:sp>
      <p:sp>
        <p:nvSpPr>
          <p:cNvPr name="Freeform 3" id="3"/>
          <p:cNvSpPr/>
          <p:nvPr/>
        </p:nvSpPr>
        <p:spPr>
          <a:xfrm flipH="false" flipV="false" rot="0">
            <a:off x="11981122" y="4507606"/>
            <a:ext cx="6306878" cy="5779394"/>
          </a:xfrm>
          <a:custGeom>
            <a:avLst/>
            <a:gdLst/>
            <a:ahLst/>
            <a:cxnLst/>
            <a:rect r="r" b="b" t="t" l="l"/>
            <a:pathLst>
              <a:path h="5779394" w="6306878">
                <a:moveTo>
                  <a:pt x="0" y="0"/>
                </a:moveTo>
                <a:lnTo>
                  <a:pt x="6306878" y="0"/>
                </a:lnTo>
                <a:lnTo>
                  <a:pt x="6306878" y="5779394"/>
                </a:lnTo>
                <a:lnTo>
                  <a:pt x="0" y="57793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5988740"/>
            <a:ext cx="4198776" cy="4114800"/>
          </a:xfrm>
          <a:custGeom>
            <a:avLst/>
            <a:gdLst/>
            <a:ahLst/>
            <a:cxnLst/>
            <a:rect r="r" b="b" t="t" l="l"/>
            <a:pathLst>
              <a:path h="4114800" w="4198776">
                <a:moveTo>
                  <a:pt x="0" y="0"/>
                </a:moveTo>
                <a:lnTo>
                  <a:pt x="4198776" y="0"/>
                </a:lnTo>
                <a:lnTo>
                  <a:pt x="41987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5217621" y="5912540"/>
            <a:ext cx="5744655" cy="3175635"/>
          </a:xfrm>
          <a:prstGeom prst="rect">
            <a:avLst/>
          </a:prstGeom>
        </p:spPr>
        <p:txBody>
          <a:bodyPr anchor="t" rtlCol="false" tIns="0" lIns="0" bIns="0" rIns="0">
            <a:spAutoFit/>
          </a:bodyPr>
          <a:lstStyle/>
          <a:p>
            <a:pPr algn="ctr">
              <a:lnSpc>
                <a:spcPts val="5040"/>
              </a:lnSpc>
            </a:pPr>
            <a:r>
              <a:rPr lang="en-US" sz="3600">
                <a:solidFill>
                  <a:srgbClr val="503530"/>
                </a:solidFill>
                <a:latin typeface="Archivo Black"/>
                <a:ea typeface="Archivo Black"/>
                <a:cs typeface="Archivo Black"/>
                <a:sym typeface="Archivo Black"/>
              </a:rPr>
              <a:t>CSE - G</a:t>
            </a:r>
          </a:p>
          <a:p>
            <a:pPr algn="l">
              <a:lnSpc>
                <a:spcPts val="5040"/>
              </a:lnSpc>
            </a:pPr>
            <a:r>
              <a:rPr lang="en-US" sz="3600">
                <a:solidFill>
                  <a:srgbClr val="503530"/>
                </a:solidFill>
                <a:latin typeface="Arial"/>
                <a:ea typeface="Arial"/>
                <a:cs typeface="Arial"/>
                <a:sym typeface="Arial"/>
              </a:rPr>
              <a:t>1.Sathwika-24RH1A05DH</a:t>
            </a:r>
          </a:p>
          <a:p>
            <a:pPr algn="l">
              <a:lnSpc>
                <a:spcPts val="5040"/>
              </a:lnSpc>
            </a:pPr>
            <a:r>
              <a:rPr lang="en-US" sz="3600">
                <a:solidFill>
                  <a:srgbClr val="503530"/>
                </a:solidFill>
                <a:latin typeface="Arial"/>
                <a:ea typeface="Arial"/>
                <a:cs typeface="Arial"/>
                <a:sym typeface="Arial"/>
              </a:rPr>
              <a:t>2.Harshini-24RH1A05EH</a:t>
            </a:r>
          </a:p>
          <a:p>
            <a:pPr algn="l">
              <a:lnSpc>
                <a:spcPts val="5040"/>
              </a:lnSpc>
            </a:pPr>
            <a:r>
              <a:rPr lang="en-US" sz="3600">
                <a:solidFill>
                  <a:srgbClr val="503530"/>
                </a:solidFill>
                <a:latin typeface="Arial"/>
                <a:ea typeface="Arial"/>
                <a:cs typeface="Arial"/>
                <a:sym typeface="Arial"/>
              </a:rPr>
              <a:t>3.Rohitha-24RH1A0CX</a:t>
            </a:r>
          </a:p>
          <a:p>
            <a:pPr algn="ctr">
              <a:lnSpc>
                <a:spcPts val="504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A0BB"/>
        </a:solidFill>
      </p:bgPr>
    </p:bg>
    <p:spTree>
      <p:nvGrpSpPr>
        <p:cNvPr id="1" name=""/>
        <p:cNvGrpSpPr/>
        <p:nvPr/>
      </p:nvGrpSpPr>
      <p:grpSpPr>
        <a:xfrm>
          <a:off x="0" y="0"/>
          <a:ext cx="0" cy="0"/>
          <a:chOff x="0" y="0"/>
          <a:chExt cx="0" cy="0"/>
        </a:xfrm>
      </p:grpSpPr>
      <p:sp>
        <p:nvSpPr>
          <p:cNvPr name="Freeform 2" id="2"/>
          <p:cNvSpPr/>
          <p:nvPr/>
        </p:nvSpPr>
        <p:spPr>
          <a:xfrm flipH="false" flipV="false" rot="0">
            <a:off x="10631945" y="2155726"/>
            <a:ext cx="7416523" cy="5372440"/>
          </a:xfrm>
          <a:custGeom>
            <a:avLst/>
            <a:gdLst/>
            <a:ahLst/>
            <a:cxnLst/>
            <a:rect r="r" b="b" t="t" l="l"/>
            <a:pathLst>
              <a:path h="5372440" w="7416523">
                <a:moveTo>
                  <a:pt x="0" y="0"/>
                </a:moveTo>
                <a:lnTo>
                  <a:pt x="7416523" y="0"/>
                </a:lnTo>
                <a:lnTo>
                  <a:pt x="7416523" y="5372440"/>
                </a:lnTo>
                <a:lnTo>
                  <a:pt x="0" y="5372440"/>
                </a:lnTo>
                <a:lnTo>
                  <a:pt x="0" y="0"/>
                </a:lnTo>
                <a:close/>
              </a:path>
            </a:pathLst>
          </a:custGeom>
          <a:blipFill>
            <a:blip r:embed="rId2"/>
            <a:stretch>
              <a:fillRect l="0" t="0" r="0" b="0"/>
            </a:stretch>
          </a:blipFill>
        </p:spPr>
      </p:sp>
      <p:sp>
        <p:nvSpPr>
          <p:cNvPr name="Freeform 3" id="3"/>
          <p:cNvSpPr/>
          <p:nvPr/>
        </p:nvSpPr>
        <p:spPr>
          <a:xfrm flipH="false" flipV="false" rot="-3032103">
            <a:off x="15650846" y="7387830"/>
            <a:ext cx="2677610" cy="3287244"/>
          </a:xfrm>
          <a:custGeom>
            <a:avLst/>
            <a:gdLst/>
            <a:ahLst/>
            <a:cxnLst/>
            <a:rect r="r" b="b" t="t" l="l"/>
            <a:pathLst>
              <a:path h="3287244" w="2677610">
                <a:moveTo>
                  <a:pt x="0" y="0"/>
                </a:moveTo>
                <a:lnTo>
                  <a:pt x="2677610" y="0"/>
                </a:lnTo>
                <a:lnTo>
                  <a:pt x="2677610" y="3287244"/>
                </a:lnTo>
                <a:lnTo>
                  <a:pt x="0" y="3287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47538" y="247015"/>
            <a:ext cx="7926121" cy="781685"/>
          </a:xfrm>
          <a:prstGeom prst="rect">
            <a:avLst/>
          </a:prstGeom>
        </p:spPr>
        <p:txBody>
          <a:bodyPr anchor="t" rtlCol="false" tIns="0" lIns="0" bIns="0" rIns="0">
            <a:spAutoFit/>
          </a:bodyPr>
          <a:lstStyle/>
          <a:p>
            <a:pPr algn="l">
              <a:lnSpc>
                <a:spcPts val="5739"/>
              </a:lnSpc>
              <a:spcBef>
                <a:spcPct val="0"/>
              </a:spcBef>
            </a:pPr>
            <a:r>
              <a:rPr lang="en-US" b="true" sz="4099" u="sng">
                <a:solidFill>
                  <a:srgbClr val="000000"/>
                </a:solidFill>
                <a:latin typeface="Arial Bold"/>
                <a:ea typeface="Arial Bold"/>
                <a:cs typeface="Arial Bold"/>
                <a:sym typeface="Arial Bold"/>
              </a:rPr>
              <a:t>Problem Statement :</a:t>
            </a:r>
          </a:p>
        </p:txBody>
      </p:sp>
      <p:sp>
        <p:nvSpPr>
          <p:cNvPr name="TextBox 5" id="5"/>
          <p:cNvSpPr txBox="true"/>
          <p:nvPr/>
        </p:nvSpPr>
        <p:spPr>
          <a:xfrm rot="0">
            <a:off x="801657" y="1112774"/>
            <a:ext cx="9414698" cy="3149346"/>
          </a:xfrm>
          <a:prstGeom prst="rect">
            <a:avLst/>
          </a:prstGeom>
        </p:spPr>
        <p:txBody>
          <a:bodyPr anchor="t" rtlCol="false" tIns="0" lIns="0" bIns="0" rIns="0">
            <a:spAutoFit/>
          </a:bodyPr>
          <a:lstStyle/>
          <a:p>
            <a:pPr algn="just">
              <a:lnSpc>
                <a:spcPts val="4913"/>
              </a:lnSpc>
              <a:spcBef>
                <a:spcPct val="0"/>
              </a:spcBef>
            </a:pPr>
            <a:r>
              <a:rPr lang="en-US" b="true" sz="3509">
                <a:solidFill>
                  <a:srgbClr val="000000"/>
                </a:solidFill>
                <a:latin typeface="Arial Bold"/>
                <a:ea typeface="Arial Bold"/>
                <a:cs typeface="Arial Bold"/>
                <a:sym typeface="Arial Bold"/>
              </a:rPr>
              <a:t>Lack of an accessible period alert system makes it difficult for blind, deaf, or mentally challenged girls to track their cycles, affecting their hygiene, health, and confidence.</a:t>
            </a:r>
          </a:p>
        </p:txBody>
      </p:sp>
      <p:sp>
        <p:nvSpPr>
          <p:cNvPr name="TextBox 6" id="6"/>
          <p:cNvSpPr txBox="true"/>
          <p:nvPr/>
        </p:nvSpPr>
        <p:spPr>
          <a:xfrm rot="0">
            <a:off x="801657" y="5882005"/>
            <a:ext cx="9414698" cy="3149447"/>
          </a:xfrm>
          <a:prstGeom prst="rect">
            <a:avLst/>
          </a:prstGeom>
        </p:spPr>
        <p:txBody>
          <a:bodyPr anchor="t" rtlCol="false" tIns="0" lIns="0" bIns="0" rIns="0">
            <a:spAutoFit/>
          </a:bodyPr>
          <a:lstStyle/>
          <a:p>
            <a:pPr algn="just">
              <a:lnSpc>
                <a:spcPts val="4908"/>
              </a:lnSpc>
              <a:spcBef>
                <a:spcPct val="0"/>
              </a:spcBef>
            </a:pPr>
            <a:r>
              <a:rPr lang="en-US" b="true" sz="3506">
                <a:solidFill>
                  <a:srgbClr val="000000"/>
                </a:solidFill>
                <a:latin typeface="Arial Bold"/>
                <a:ea typeface="Arial Bold"/>
                <a:cs typeface="Arial Bold"/>
                <a:sym typeface="Arial Bold"/>
              </a:rPr>
              <a:t>A smart period alert system with sensors, wearable band, and mobile app is proposed. It provides vibrationt to the band, voice, or visual alerts to help disabled girls track periods and maintain hygiene.</a:t>
            </a:r>
          </a:p>
        </p:txBody>
      </p:sp>
      <p:sp>
        <p:nvSpPr>
          <p:cNvPr name="TextBox 7" id="7"/>
          <p:cNvSpPr txBox="true"/>
          <p:nvPr/>
        </p:nvSpPr>
        <p:spPr>
          <a:xfrm rot="0">
            <a:off x="247538" y="4671695"/>
            <a:ext cx="7926121" cy="781685"/>
          </a:xfrm>
          <a:prstGeom prst="rect">
            <a:avLst/>
          </a:prstGeom>
        </p:spPr>
        <p:txBody>
          <a:bodyPr anchor="t" rtlCol="false" tIns="0" lIns="0" bIns="0" rIns="0">
            <a:spAutoFit/>
          </a:bodyPr>
          <a:lstStyle/>
          <a:p>
            <a:pPr algn="l">
              <a:lnSpc>
                <a:spcPts val="5739"/>
              </a:lnSpc>
              <a:spcBef>
                <a:spcPct val="0"/>
              </a:spcBef>
            </a:pPr>
            <a:r>
              <a:rPr lang="en-US" b="true" sz="4099" u="sng">
                <a:solidFill>
                  <a:srgbClr val="000000"/>
                </a:solidFill>
                <a:latin typeface="Arial Bold"/>
                <a:ea typeface="Arial Bold"/>
                <a:cs typeface="Arial Bold"/>
                <a:sym typeface="Arial Bold"/>
              </a:rPr>
              <a:t>Problem Solution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A0BB"/>
        </a:solidFill>
      </p:bgPr>
    </p:bg>
    <p:spTree>
      <p:nvGrpSpPr>
        <p:cNvPr id="1" name=""/>
        <p:cNvGrpSpPr/>
        <p:nvPr/>
      </p:nvGrpSpPr>
      <p:grpSpPr>
        <a:xfrm>
          <a:off x="0" y="0"/>
          <a:ext cx="0" cy="0"/>
          <a:chOff x="0" y="0"/>
          <a:chExt cx="0" cy="0"/>
        </a:xfrm>
      </p:grpSpPr>
      <p:sp>
        <p:nvSpPr>
          <p:cNvPr name="Freeform 2" id="2"/>
          <p:cNvSpPr/>
          <p:nvPr/>
        </p:nvSpPr>
        <p:spPr>
          <a:xfrm flipH="false" flipV="false" rot="0">
            <a:off x="11449287" y="2062559"/>
            <a:ext cx="6189588" cy="6002068"/>
          </a:xfrm>
          <a:custGeom>
            <a:avLst/>
            <a:gdLst/>
            <a:ahLst/>
            <a:cxnLst/>
            <a:rect r="r" b="b" t="t" l="l"/>
            <a:pathLst>
              <a:path h="6002068" w="6189588">
                <a:moveTo>
                  <a:pt x="0" y="0"/>
                </a:moveTo>
                <a:lnTo>
                  <a:pt x="6189588" y="0"/>
                </a:lnTo>
                <a:lnTo>
                  <a:pt x="6189588" y="6002068"/>
                </a:lnTo>
                <a:lnTo>
                  <a:pt x="0" y="6002068"/>
                </a:lnTo>
                <a:lnTo>
                  <a:pt x="0" y="0"/>
                </a:lnTo>
                <a:close/>
              </a:path>
            </a:pathLst>
          </a:custGeom>
          <a:blipFill>
            <a:blip r:embed="rId2"/>
            <a:stretch>
              <a:fillRect l="-6266" t="-14771" r="-7609" b="-2662"/>
            </a:stretch>
          </a:blipFill>
        </p:spPr>
      </p:sp>
      <p:sp>
        <p:nvSpPr>
          <p:cNvPr name="Freeform 3" id="3"/>
          <p:cNvSpPr/>
          <p:nvPr/>
        </p:nvSpPr>
        <p:spPr>
          <a:xfrm flipH="false" flipV="false" rot="-4713811">
            <a:off x="15970484" y="8173762"/>
            <a:ext cx="2996135" cy="3390688"/>
          </a:xfrm>
          <a:custGeom>
            <a:avLst/>
            <a:gdLst/>
            <a:ahLst/>
            <a:cxnLst/>
            <a:rect r="r" b="b" t="t" l="l"/>
            <a:pathLst>
              <a:path h="3390688" w="2996135">
                <a:moveTo>
                  <a:pt x="0" y="0"/>
                </a:moveTo>
                <a:lnTo>
                  <a:pt x="2996135" y="0"/>
                </a:lnTo>
                <a:lnTo>
                  <a:pt x="2996135" y="3390687"/>
                </a:lnTo>
                <a:lnTo>
                  <a:pt x="0" y="33906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7051259">
            <a:off x="15702497" y="-1028700"/>
            <a:ext cx="3532110" cy="4114800"/>
          </a:xfrm>
          <a:custGeom>
            <a:avLst/>
            <a:gdLst/>
            <a:ahLst/>
            <a:cxnLst/>
            <a:rect r="r" b="b" t="t" l="l"/>
            <a:pathLst>
              <a:path h="4114800" w="3532110">
                <a:moveTo>
                  <a:pt x="0" y="0"/>
                </a:moveTo>
                <a:lnTo>
                  <a:pt x="3532109" y="0"/>
                </a:lnTo>
                <a:lnTo>
                  <a:pt x="353210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239519" y="7024032"/>
            <a:ext cx="5296434" cy="5296434"/>
          </a:xfrm>
          <a:custGeom>
            <a:avLst/>
            <a:gdLst/>
            <a:ahLst/>
            <a:cxnLst/>
            <a:rect r="r" b="b" t="t" l="l"/>
            <a:pathLst>
              <a:path h="5296434" w="5296434">
                <a:moveTo>
                  <a:pt x="0" y="0"/>
                </a:moveTo>
                <a:lnTo>
                  <a:pt x="5296434" y="0"/>
                </a:lnTo>
                <a:lnTo>
                  <a:pt x="5296434" y="5296434"/>
                </a:lnTo>
                <a:lnTo>
                  <a:pt x="0" y="52964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621586" y="556895"/>
            <a:ext cx="7926121" cy="781685"/>
          </a:xfrm>
          <a:prstGeom prst="rect">
            <a:avLst/>
          </a:prstGeom>
        </p:spPr>
        <p:txBody>
          <a:bodyPr anchor="t" rtlCol="false" tIns="0" lIns="0" bIns="0" rIns="0">
            <a:spAutoFit/>
          </a:bodyPr>
          <a:lstStyle/>
          <a:p>
            <a:pPr algn="l">
              <a:lnSpc>
                <a:spcPts val="5739"/>
              </a:lnSpc>
              <a:spcBef>
                <a:spcPct val="0"/>
              </a:spcBef>
            </a:pPr>
            <a:r>
              <a:rPr lang="en-US" b="true" sz="4099" u="sng">
                <a:solidFill>
                  <a:srgbClr val="000000"/>
                </a:solidFill>
                <a:latin typeface="Arial Bold"/>
                <a:ea typeface="Arial Bold"/>
                <a:cs typeface="Arial Bold"/>
                <a:sym typeface="Arial Bold"/>
              </a:rPr>
              <a:t>How to address the solution :</a:t>
            </a:r>
          </a:p>
        </p:txBody>
      </p:sp>
      <p:sp>
        <p:nvSpPr>
          <p:cNvPr name="TextBox 7" id="7"/>
          <p:cNvSpPr txBox="true"/>
          <p:nvPr/>
        </p:nvSpPr>
        <p:spPr>
          <a:xfrm rot="0">
            <a:off x="1508176" y="1779863"/>
            <a:ext cx="9497816" cy="3149346"/>
          </a:xfrm>
          <a:prstGeom prst="rect">
            <a:avLst/>
          </a:prstGeom>
        </p:spPr>
        <p:txBody>
          <a:bodyPr anchor="t" rtlCol="false" tIns="0" lIns="0" bIns="0" rIns="0">
            <a:spAutoFit/>
          </a:bodyPr>
          <a:lstStyle/>
          <a:p>
            <a:pPr algn="just">
              <a:lnSpc>
                <a:spcPts val="4913"/>
              </a:lnSpc>
              <a:spcBef>
                <a:spcPct val="0"/>
              </a:spcBef>
            </a:pPr>
            <a:r>
              <a:rPr lang="en-US" b="true" sz="3509">
                <a:solidFill>
                  <a:srgbClr val="000000"/>
                </a:solidFill>
                <a:latin typeface="Arial Bold"/>
                <a:ea typeface="Arial Bold"/>
                <a:cs typeface="Arial Bold"/>
                <a:sym typeface="Arial Bold"/>
              </a:rPr>
              <a:t>A sensor detects the start of menstruation and sends signals to a wearable band and mobile app. The band alerts through vibration/voice/visual notifications, ensuring timely awareness and hygiene.</a:t>
            </a:r>
          </a:p>
        </p:txBody>
      </p:sp>
      <p:sp>
        <p:nvSpPr>
          <p:cNvPr name="TextBox 8" id="8"/>
          <p:cNvSpPr txBox="true"/>
          <p:nvPr/>
        </p:nvSpPr>
        <p:spPr>
          <a:xfrm rot="0">
            <a:off x="621586" y="5661322"/>
            <a:ext cx="7926121" cy="781685"/>
          </a:xfrm>
          <a:prstGeom prst="rect">
            <a:avLst/>
          </a:prstGeom>
        </p:spPr>
        <p:txBody>
          <a:bodyPr anchor="t" rtlCol="false" tIns="0" lIns="0" bIns="0" rIns="0">
            <a:spAutoFit/>
          </a:bodyPr>
          <a:lstStyle/>
          <a:p>
            <a:pPr algn="l">
              <a:lnSpc>
                <a:spcPts val="5739"/>
              </a:lnSpc>
              <a:spcBef>
                <a:spcPct val="0"/>
              </a:spcBef>
            </a:pPr>
            <a:r>
              <a:rPr lang="en-US" b="true" sz="4099" u="sng">
                <a:solidFill>
                  <a:srgbClr val="000000"/>
                </a:solidFill>
                <a:latin typeface="Arial Bold"/>
                <a:ea typeface="Arial Bold"/>
                <a:cs typeface="Arial Bold"/>
                <a:sym typeface="Arial Bold"/>
              </a:rPr>
              <a:t>Innovation and Uniquesness :</a:t>
            </a:r>
          </a:p>
        </p:txBody>
      </p:sp>
      <p:sp>
        <p:nvSpPr>
          <p:cNvPr name="TextBox 9" id="9"/>
          <p:cNvSpPr txBox="true"/>
          <p:nvPr/>
        </p:nvSpPr>
        <p:spPr>
          <a:xfrm rot="0">
            <a:off x="1508176" y="6728079"/>
            <a:ext cx="9497816" cy="2530221"/>
          </a:xfrm>
          <a:prstGeom prst="rect">
            <a:avLst/>
          </a:prstGeom>
        </p:spPr>
        <p:txBody>
          <a:bodyPr anchor="t" rtlCol="false" tIns="0" lIns="0" bIns="0" rIns="0">
            <a:spAutoFit/>
          </a:bodyPr>
          <a:lstStyle/>
          <a:p>
            <a:pPr algn="just">
              <a:lnSpc>
                <a:spcPts val="4913"/>
              </a:lnSpc>
              <a:spcBef>
                <a:spcPct val="0"/>
              </a:spcBef>
            </a:pPr>
            <a:r>
              <a:rPr lang="en-US" b="true" sz="3509">
                <a:solidFill>
                  <a:srgbClr val="000000"/>
                </a:solidFill>
                <a:latin typeface="Arial Bold"/>
                <a:ea typeface="Arial Bold"/>
                <a:cs typeface="Arial Bold"/>
                <a:sym typeface="Arial Bold"/>
              </a:rPr>
              <a:t>Unlike normal smartwatches that rely on apps, our device detects real menstruation with sensors and gives inclusive alerts for disabled girls.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F5F53"/>
        </a:solidFill>
      </p:bgPr>
    </p:bg>
    <p:spTree>
      <p:nvGrpSpPr>
        <p:cNvPr id="1" name=""/>
        <p:cNvGrpSpPr/>
        <p:nvPr/>
      </p:nvGrpSpPr>
      <p:grpSpPr>
        <a:xfrm>
          <a:off x="0" y="0"/>
          <a:ext cx="0" cy="0"/>
          <a:chOff x="0" y="0"/>
          <a:chExt cx="0" cy="0"/>
        </a:xfrm>
      </p:grpSpPr>
      <p:sp>
        <p:nvSpPr>
          <p:cNvPr name="Freeform 2" id="2"/>
          <p:cNvSpPr/>
          <p:nvPr/>
        </p:nvSpPr>
        <p:spPr>
          <a:xfrm flipH="false" flipV="false" rot="0">
            <a:off x="15219169" y="-2648217"/>
            <a:ext cx="5296434" cy="5296434"/>
          </a:xfrm>
          <a:custGeom>
            <a:avLst/>
            <a:gdLst/>
            <a:ahLst/>
            <a:cxnLst/>
            <a:rect r="r" b="b" t="t" l="l"/>
            <a:pathLst>
              <a:path h="5296434" w="5296434">
                <a:moveTo>
                  <a:pt x="0" y="0"/>
                </a:moveTo>
                <a:lnTo>
                  <a:pt x="5296434" y="0"/>
                </a:lnTo>
                <a:lnTo>
                  <a:pt x="5296434" y="5296434"/>
                </a:lnTo>
                <a:lnTo>
                  <a:pt x="0" y="52964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2088" y="3617925"/>
            <a:ext cx="10515583" cy="4988804"/>
          </a:xfrm>
          <a:custGeom>
            <a:avLst/>
            <a:gdLst/>
            <a:ahLst/>
            <a:cxnLst/>
            <a:rect r="r" b="b" t="t" l="l"/>
            <a:pathLst>
              <a:path h="4988804" w="10515583">
                <a:moveTo>
                  <a:pt x="0" y="0"/>
                </a:moveTo>
                <a:lnTo>
                  <a:pt x="10515583" y="0"/>
                </a:lnTo>
                <a:lnTo>
                  <a:pt x="10515583" y="4988804"/>
                </a:lnTo>
                <a:lnTo>
                  <a:pt x="0" y="4988804"/>
                </a:lnTo>
                <a:lnTo>
                  <a:pt x="0" y="0"/>
                </a:lnTo>
                <a:close/>
              </a:path>
            </a:pathLst>
          </a:custGeom>
          <a:blipFill>
            <a:blip r:embed="rId4"/>
            <a:stretch>
              <a:fillRect l="0" t="-53974" r="0" b="-56809"/>
            </a:stretch>
          </a:blipFill>
        </p:spPr>
      </p:sp>
      <p:sp>
        <p:nvSpPr>
          <p:cNvPr name="Freeform 4" id="4"/>
          <p:cNvSpPr/>
          <p:nvPr/>
        </p:nvSpPr>
        <p:spPr>
          <a:xfrm flipH="false" flipV="false" rot="0">
            <a:off x="11603285" y="2845739"/>
            <a:ext cx="6019772" cy="6019772"/>
          </a:xfrm>
          <a:custGeom>
            <a:avLst/>
            <a:gdLst/>
            <a:ahLst/>
            <a:cxnLst/>
            <a:rect r="r" b="b" t="t" l="l"/>
            <a:pathLst>
              <a:path h="6019772" w="6019772">
                <a:moveTo>
                  <a:pt x="0" y="0"/>
                </a:moveTo>
                <a:lnTo>
                  <a:pt x="6019772" y="0"/>
                </a:lnTo>
                <a:lnTo>
                  <a:pt x="6019772" y="6019772"/>
                </a:lnTo>
                <a:lnTo>
                  <a:pt x="0" y="6019772"/>
                </a:lnTo>
                <a:lnTo>
                  <a:pt x="0" y="0"/>
                </a:lnTo>
                <a:close/>
              </a:path>
            </a:pathLst>
          </a:custGeom>
          <a:blipFill>
            <a:blip r:embed="rId5"/>
            <a:stretch>
              <a:fillRect l="0" t="0" r="0" b="0"/>
            </a:stretch>
          </a:blipFill>
        </p:spPr>
      </p:sp>
      <p:sp>
        <p:nvSpPr>
          <p:cNvPr name="Freeform 5" id="5"/>
          <p:cNvSpPr/>
          <p:nvPr/>
        </p:nvSpPr>
        <p:spPr>
          <a:xfrm flipH="false" flipV="false" rot="6859526">
            <a:off x="-215211" y="-728807"/>
            <a:ext cx="3164655" cy="4114800"/>
          </a:xfrm>
          <a:custGeom>
            <a:avLst/>
            <a:gdLst/>
            <a:ahLst/>
            <a:cxnLst/>
            <a:rect r="r" b="b" t="t" l="l"/>
            <a:pathLst>
              <a:path h="4114800" w="3164655">
                <a:moveTo>
                  <a:pt x="0" y="0"/>
                </a:moveTo>
                <a:lnTo>
                  <a:pt x="3164655" y="0"/>
                </a:lnTo>
                <a:lnTo>
                  <a:pt x="316465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749879" y="249238"/>
            <a:ext cx="8367480" cy="1387474"/>
          </a:xfrm>
          <a:prstGeom prst="rect">
            <a:avLst/>
          </a:prstGeom>
        </p:spPr>
        <p:txBody>
          <a:bodyPr anchor="t" rtlCol="false" tIns="0" lIns="0" bIns="0" rIns="0">
            <a:spAutoFit/>
          </a:bodyPr>
          <a:lstStyle/>
          <a:p>
            <a:pPr algn="ctr">
              <a:lnSpc>
                <a:spcPts val="11200"/>
              </a:lnSpc>
              <a:spcBef>
                <a:spcPct val="0"/>
              </a:spcBef>
            </a:pPr>
            <a:r>
              <a:rPr lang="en-US" sz="8000">
                <a:solidFill>
                  <a:srgbClr val="FFFFFF"/>
                </a:solidFill>
                <a:latin typeface="Archivo Black"/>
                <a:ea typeface="Archivo Black"/>
                <a:cs typeface="Archivo Black"/>
                <a:sym typeface="Archivo Black"/>
              </a:rPr>
              <a:t>FLOW CHART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AA9C"/>
        </a:solidFill>
      </p:bgPr>
    </p:bg>
    <p:spTree>
      <p:nvGrpSpPr>
        <p:cNvPr id="1" name=""/>
        <p:cNvGrpSpPr/>
        <p:nvPr/>
      </p:nvGrpSpPr>
      <p:grpSpPr>
        <a:xfrm>
          <a:off x="0" y="0"/>
          <a:ext cx="0" cy="0"/>
          <a:chOff x="0" y="0"/>
          <a:chExt cx="0" cy="0"/>
        </a:xfrm>
      </p:grpSpPr>
      <p:sp>
        <p:nvSpPr>
          <p:cNvPr name="Freeform 2" id="2"/>
          <p:cNvSpPr/>
          <p:nvPr/>
        </p:nvSpPr>
        <p:spPr>
          <a:xfrm flipH="false" flipV="false" rot="0">
            <a:off x="10697573" y="2689317"/>
            <a:ext cx="7048472" cy="6854530"/>
          </a:xfrm>
          <a:custGeom>
            <a:avLst/>
            <a:gdLst/>
            <a:ahLst/>
            <a:cxnLst/>
            <a:rect r="r" b="b" t="t" l="l"/>
            <a:pathLst>
              <a:path h="6854530" w="7048472">
                <a:moveTo>
                  <a:pt x="0" y="0"/>
                </a:moveTo>
                <a:lnTo>
                  <a:pt x="7048472" y="0"/>
                </a:lnTo>
                <a:lnTo>
                  <a:pt x="7048472" y="6854531"/>
                </a:lnTo>
                <a:lnTo>
                  <a:pt x="0" y="6854531"/>
                </a:lnTo>
                <a:lnTo>
                  <a:pt x="0" y="0"/>
                </a:lnTo>
                <a:close/>
              </a:path>
            </a:pathLst>
          </a:custGeom>
          <a:blipFill>
            <a:blip r:embed="rId2"/>
            <a:stretch>
              <a:fillRect l="0" t="-2829" r="0" b="0"/>
            </a:stretch>
          </a:blipFill>
        </p:spPr>
      </p:sp>
      <p:sp>
        <p:nvSpPr>
          <p:cNvPr name="TextBox 3" id="3"/>
          <p:cNvSpPr txBox="true"/>
          <p:nvPr/>
        </p:nvSpPr>
        <p:spPr>
          <a:xfrm rot="0">
            <a:off x="287169" y="2063826"/>
            <a:ext cx="10725107" cy="7806796"/>
          </a:xfrm>
          <a:prstGeom prst="rect">
            <a:avLst/>
          </a:prstGeom>
        </p:spPr>
        <p:txBody>
          <a:bodyPr anchor="t" rtlCol="false" tIns="0" lIns="0" bIns="0" rIns="0">
            <a:spAutoFit/>
          </a:bodyPr>
          <a:lstStyle/>
          <a:p>
            <a:pPr algn="l">
              <a:lnSpc>
                <a:spcPts val="3879"/>
              </a:lnSpc>
            </a:pPr>
            <a:r>
              <a:rPr lang="en-US" sz="2770" b="true">
                <a:solidFill>
                  <a:srgbClr val="000000"/>
                </a:solidFill>
                <a:latin typeface="Arial Bold"/>
                <a:ea typeface="Arial Bold"/>
                <a:cs typeface="Arial Bold"/>
                <a:sym typeface="Arial Bold"/>
              </a:rPr>
              <a:t>Hardware</a:t>
            </a:r>
          </a:p>
          <a:p>
            <a:pPr algn="l" marL="598222" indent="-299111" lvl="1">
              <a:lnSpc>
                <a:spcPts val="3879"/>
              </a:lnSpc>
              <a:buFont typeface="Arial"/>
              <a:buChar char="•"/>
            </a:pPr>
            <a:r>
              <a:rPr lang="en-US" sz="2770">
                <a:solidFill>
                  <a:srgbClr val="000000"/>
                </a:solidFill>
                <a:latin typeface="Arial"/>
                <a:ea typeface="Arial"/>
                <a:cs typeface="Arial"/>
                <a:sym typeface="Arial"/>
              </a:rPr>
              <a:t>MCU + BLE: ESP32 / nRF52832</a:t>
            </a:r>
          </a:p>
          <a:p>
            <a:pPr algn="l" marL="598222" indent="-299111" lvl="1">
              <a:lnSpc>
                <a:spcPts val="3879"/>
              </a:lnSpc>
              <a:buFont typeface="Arial"/>
              <a:buChar char="•"/>
            </a:pPr>
            <a:r>
              <a:rPr lang="en-US" sz="2770">
                <a:solidFill>
                  <a:srgbClr val="000000"/>
                </a:solidFill>
                <a:latin typeface="Arial"/>
                <a:ea typeface="Arial"/>
                <a:cs typeface="Arial"/>
                <a:sym typeface="Arial"/>
              </a:rPr>
              <a:t>Sensors: Moisture/flow detection, optional temp/pH</a:t>
            </a:r>
          </a:p>
          <a:p>
            <a:pPr algn="l" marL="598222" indent="-299111" lvl="1">
              <a:lnSpc>
                <a:spcPts val="3879"/>
              </a:lnSpc>
              <a:buFont typeface="Arial"/>
              <a:buChar char="•"/>
            </a:pPr>
            <a:r>
              <a:rPr lang="en-US" sz="2770">
                <a:solidFill>
                  <a:srgbClr val="000000"/>
                </a:solidFill>
                <a:latin typeface="Arial"/>
                <a:ea typeface="Arial"/>
                <a:cs typeface="Arial"/>
                <a:sym typeface="Arial"/>
              </a:rPr>
              <a:t>Alerts: Vibration motor, LED, buzzer</a:t>
            </a:r>
          </a:p>
          <a:p>
            <a:pPr algn="l" marL="598222" indent="-299111" lvl="1">
              <a:lnSpc>
                <a:spcPts val="3879"/>
              </a:lnSpc>
              <a:buFont typeface="Arial"/>
              <a:buChar char="•"/>
            </a:pPr>
            <a:r>
              <a:rPr lang="en-US" sz="2770">
                <a:solidFill>
                  <a:srgbClr val="000000"/>
                </a:solidFill>
                <a:latin typeface="Arial"/>
                <a:ea typeface="Arial"/>
                <a:cs typeface="Arial"/>
                <a:sym typeface="Arial"/>
              </a:rPr>
              <a:t>Power: Li-ion battery + solar charging</a:t>
            </a:r>
          </a:p>
          <a:p>
            <a:pPr algn="l">
              <a:lnSpc>
                <a:spcPts val="3879"/>
              </a:lnSpc>
            </a:pPr>
            <a:r>
              <a:rPr lang="en-US" sz="2770" b="true">
                <a:solidFill>
                  <a:srgbClr val="000000"/>
                </a:solidFill>
                <a:latin typeface="Arial Bold"/>
                <a:ea typeface="Arial Bold"/>
                <a:cs typeface="Arial Bold"/>
                <a:sym typeface="Arial Bold"/>
              </a:rPr>
              <a:t>Software</a:t>
            </a:r>
          </a:p>
          <a:p>
            <a:pPr algn="l" marL="598222" indent="-299111" lvl="1">
              <a:lnSpc>
                <a:spcPts val="3879"/>
              </a:lnSpc>
              <a:buFont typeface="Arial"/>
              <a:buChar char="•"/>
            </a:pPr>
            <a:r>
              <a:rPr lang="en-US" sz="2770">
                <a:solidFill>
                  <a:srgbClr val="000000"/>
                </a:solidFill>
                <a:latin typeface="Arial"/>
                <a:ea typeface="Arial"/>
                <a:cs typeface="Arial"/>
                <a:sym typeface="Arial"/>
              </a:rPr>
              <a:t>Firmware: Arduino / ESP-IDF (C/C++)</a:t>
            </a:r>
          </a:p>
          <a:p>
            <a:pPr algn="l" marL="598222" indent="-299111" lvl="1">
              <a:lnSpc>
                <a:spcPts val="3879"/>
              </a:lnSpc>
              <a:buFont typeface="Arial"/>
              <a:buChar char="•"/>
            </a:pPr>
            <a:r>
              <a:rPr lang="en-US" sz="2770">
                <a:solidFill>
                  <a:srgbClr val="000000"/>
                </a:solidFill>
                <a:latin typeface="Arial"/>
                <a:ea typeface="Arial"/>
                <a:cs typeface="Arial"/>
                <a:sym typeface="Arial"/>
              </a:rPr>
              <a:t>Mobile App: Android (Kotlin) / Flutter (cross-platform)</a:t>
            </a:r>
          </a:p>
          <a:p>
            <a:pPr algn="l" marL="598222" indent="-299111" lvl="1">
              <a:lnSpc>
                <a:spcPts val="3879"/>
              </a:lnSpc>
              <a:buFont typeface="Arial"/>
              <a:buChar char="•"/>
            </a:pPr>
            <a:r>
              <a:rPr lang="en-US" sz="2770">
                <a:solidFill>
                  <a:srgbClr val="000000"/>
                </a:solidFill>
                <a:latin typeface="Arial"/>
                <a:ea typeface="Arial"/>
                <a:cs typeface="Arial"/>
                <a:sym typeface="Arial"/>
              </a:rPr>
              <a:t>Connectivity: Bluetooth Low Energy (BLE GATT)</a:t>
            </a:r>
          </a:p>
          <a:p>
            <a:pPr algn="l" marL="598222" indent="-299111" lvl="1">
              <a:lnSpc>
                <a:spcPts val="3879"/>
              </a:lnSpc>
              <a:buFont typeface="Arial"/>
              <a:buChar char="•"/>
            </a:pPr>
            <a:r>
              <a:rPr lang="en-US" sz="2770">
                <a:solidFill>
                  <a:srgbClr val="000000"/>
                </a:solidFill>
                <a:latin typeface="Arial"/>
                <a:ea typeface="Arial"/>
                <a:cs typeface="Arial"/>
                <a:sym typeface="Arial"/>
              </a:rPr>
              <a:t>Features: Period start &amp; end detection, cycle prediction, alerts (voice, vibration, visual)</a:t>
            </a:r>
          </a:p>
          <a:p>
            <a:pPr algn="l">
              <a:lnSpc>
                <a:spcPts val="3879"/>
              </a:lnSpc>
            </a:pPr>
            <a:r>
              <a:rPr lang="en-US" sz="2770" b="true">
                <a:solidFill>
                  <a:srgbClr val="000000"/>
                </a:solidFill>
                <a:latin typeface="Arial Bold"/>
                <a:ea typeface="Arial Bold"/>
                <a:cs typeface="Arial Bold"/>
                <a:sym typeface="Arial Bold"/>
              </a:rPr>
              <a:t>Tools</a:t>
            </a:r>
          </a:p>
          <a:p>
            <a:pPr algn="l" marL="598222" indent="-299111" lvl="1">
              <a:lnSpc>
                <a:spcPts val="3879"/>
              </a:lnSpc>
              <a:buFont typeface="Arial"/>
              <a:buChar char="•"/>
            </a:pPr>
            <a:r>
              <a:rPr lang="en-US" sz="2770">
                <a:solidFill>
                  <a:srgbClr val="000000"/>
                </a:solidFill>
                <a:latin typeface="Arial"/>
                <a:ea typeface="Arial"/>
                <a:cs typeface="Arial"/>
                <a:sym typeface="Arial"/>
              </a:rPr>
              <a:t>Arduino IDE / PlatformIO</a:t>
            </a:r>
          </a:p>
          <a:p>
            <a:pPr algn="l" marL="598222" indent="-299111" lvl="1">
              <a:lnSpc>
                <a:spcPts val="3879"/>
              </a:lnSpc>
              <a:buFont typeface="Arial"/>
              <a:buChar char="•"/>
            </a:pPr>
            <a:r>
              <a:rPr lang="en-US" sz="2770">
                <a:solidFill>
                  <a:srgbClr val="000000"/>
                </a:solidFill>
                <a:latin typeface="Arial"/>
                <a:ea typeface="Arial"/>
                <a:cs typeface="Arial"/>
                <a:sym typeface="Arial"/>
              </a:rPr>
              <a:t>Android Studio / MIT App Inventor (prototype)</a:t>
            </a:r>
          </a:p>
          <a:p>
            <a:pPr algn="l" marL="598222" indent="-299111" lvl="1">
              <a:lnSpc>
                <a:spcPts val="3879"/>
              </a:lnSpc>
              <a:buFont typeface="Arial"/>
              <a:buChar char="•"/>
            </a:pPr>
            <a:r>
              <a:rPr lang="en-US" sz="2770">
                <a:solidFill>
                  <a:srgbClr val="000000"/>
                </a:solidFill>
                <a:latin typeface="Arial"/>
                <a:ea typeface="Arial"/>
                <a:cs typeface="Arial"/>
                <a:sym typeface="Arial"/>
              </a:rPr>
              <a:t>KiCad (PCB), 3D printing (enclosure)</a:t>
            </a:r>
          </a:p>
          <a:p>
            <a:pPr algn="l">
              <a:lnSpc>
                <a:spcPts val="3879"/>
              </a:lnSpc>
              <a:spcBef>
                <a:spcPct val="0"/>
              </a:spcBef>
            </a:pPr>
          </a:p>
        </p:txBody>
      </p:sp>
      <p:sp>
        <p:nvSpPr>
          <p:cNvPr name="TextBox 4" id="4"/>
          <p:cNvSpPr txBox="true"/>
          <p:nvPr/>
        </p:nvSpPr>
        <p:spPr>
          <a:xfrm rot="0">
            <a:off x="2970707" y="559435"/>
            <a:ext cx="11001748" cy="1235857"/>
          </a:xfrm>
          <a:prstGeom prst="rect">
            <a:avLst/>
          </a:prstGeom>
        </p:spPr>
        <p:txBody>
          <a:bodyPr anchor="t" rtlCol="false" tIns="0" lIns="0" bIns="0" rIns="0">
            <a:spAutoFit/>
          </a:bodyPr>
          <a:lstStyle/>
          <a:p>
            <a:pPr algn="ctr">
              <a:lnSpc>
                <a:spcPts val="10106"/>
              </a:lnSpc>
              <a:spcBef>
                <a:spcPct val="0"/>
              </a:spcBef>
            </a:pPr>
            <a:r>
              <a:rPr lang="en-US" sz="7219">
                <a:solidFill>
                  <a:srgbClr val="000000"/>
                </a:solidFill>
                <a:latin typeface="Archivo Black"/>
                <a:ea typeface="Archivo Black"/>
                <a:cs typeface="Archivo Black"/>
                <a:sym typeface="Archivo Black"/>
              </a:rPr>
              <a:t>Technical Approach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A0BB"/>
        </a:solidFill>
      </p:bgPr>
    </p:bg>
    <p:spTree>
      <p:nvGrpSpPr>
        <p:cNvPr id="1" name=""/>
        <p:cNvGrpSpPr/>
        <p:nvPr/>
      </p:nvGrpSpPr>
      <p:grpSpPr>
        <a:xfrm>
          <a:off x="0" y="0"/>
          <a:ext cx="0" cy="0"/>
          <a:chOff x="0" y="0"/>
          <a:chExt cx="0" cy="0"/>
        </a:xfrm>
      </p:grpSpPr>
      <p:grpSp>
        <p:nvGrpSpPr>
          <p:cNvPr name="Group 2" id="2"/>
          <p:cNvGrpSpPr/>
          <p:nvPr/>
        </p:nvGrpSpPr>
        <p:grpSpPr>
          <a:xfrm rot="0">
            <a:off x="0" y="0"/>
            <a:ext cx="9144000" cy="10600107"/>
            <a:chOff x="0" y="0"/>
            <a:chExt cx="3335756" cy="3866948"/>
          </a:xfrm>
        </p:grpSpPr>
        <p:sp>
          <p:nvSpPr>
            <p:cNvPr name="Freeform 3" id="3"/>
            <p:cNvSpPr/>
            <p:nvPr/>
          </p:nvSpPr>
          <p:spPr>
            <a:xfrm flipH="false" flipV="false" rot="0">
              <a:off x="0" y="0"/>
              <a:ext cx="3335756" cy="3866948"/>
            </a:xfrm>
            <a:custGeom>
              <a:avLst/>
              <a:gdLst/>
              <a:ahLst/>
              <a:cxnLst/>
              <a:rect r="r" b="b" t="t" l="l"/>
              <a:pathLst>
                <a:path h="3866948" w="3335756">
                  <a:moveTo>
                    <a:pt x="0" y="0"/>
                  </a:moveTo>
                  <a:lnTo>
                    <a:pt x="3335756" y="0"/>
                  </a:lnTo>
                  <a:lnTo>
                    <a:pt x="3335756" y="3866948"/>
                  </a:lnTo>
                  <a:lnTo>
                    <a:pt x="0" y="3866948"/>
                  </a:lnTo>
                  <a:close/>
                </a:path>
              </a:pathLst>
            </a:custGeom>
            <a:solidFill>
              <a:srgbClr val="EDE8EA"/>
            </a:solidFill>
          </p:spPr>
        </p:sp>
      </p:grpSp>
      <p:sp>
        <p:nvSpPr>
          <p:cNvPr name="Freeform 4" id="4"/>
          <p:cNvSpPr/>
          <p:nvPr/>
        </p:nvSpPr>
        <p:spPr>
          <a:xfrm flipH="false" flipV="false" rot="0">
            <a:off x="8514057" y="645607"/>
            <a:ext cx="1259886" cy="1412103"/>
          </a:xfrm>
          <a:custGeom>
            <a:avLst/>
            <a:gdLst/>
            <a:ahLst/>
            <a:cxnLst/>
            <a:rect r="r" b="b" t="t" l="l"/>
            <a:pathLst>
              <a:path h="1412103" w="1259886">
                <a:moveTo>
                  <a:pt x="0" y="0"/>
                </a:moveTo>
                <a:lnTo>
                  <a:pt x="1259886" y="0"/>
                </a:lnTo>
                <a:lnTo>
                  <a:pt x="1259886" y="1412102"/>
                </a:lnTo>
                <a:lnTo>
                  <a:pt x="0" y="1412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514057" y="2541528"/>
            <a:ext cx="1259886" cy="1412103"/>
          </a:xfrm>
          <a:custGeom>
            <a:avLst/>
            <a:gdLst/>
            <a:ahLst/>
            <a:cxnLst/>
            <a:rect r="r" b="b" t="t" l="l"/>
            <a:pathLst>
              <a:path h="1412103" w="1259886">
                <a:moveTo>
                  <a:pt x="0" y="0"/>
                </a:moveTo>
                <a:lnTo>
                  <a:pt x="1259886" y="0"/>
                </a:lnTo>
                <a:lnTo>
                  <a:pt x="1259886" y="1412102"/>
                </a:lnTo>
                <a:lnTo>
                  <a:pt x="0" y="1412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514057" y="4437449"/>
            <a:ext cx="1259886" cy="1412103"/>
          </a:xfrm>
          <a:custGeom>
            <a:avLst/>
            <a:gdLst/>
            <a:ahLst/>
            <a:cxnLst/>
            <a:rect r="r" b="b" t="t" l="l"/>
            <a:pathLst>
              <a:path h="1412103" w="1259886">
                <a:moveTo>
                  <a:pt x="0" y="0"/>
                </a:moveTo>
                <a:lnTo>
                  <a:pt x="1259886" y="0"/>
                </a:lnTo>
                <a:lnTo>
                  <a:pt x="1259886" y="1412102"/>
                </a:lnTo>
                <a:lnTo>
                  <a:pt x="0" y="1412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514057" y="6333370"/>
            <a:ext cx="1259886" cy="1412103"/>
          </a:xfrm>
          <a:custGeom>
            <a:avLst/>
            <a:gdLst/>
            <a:ahLst/>
            <a:cxnLst/>
            <a:rect r="r" b="b" t="t" l="l"/>
            <a:pathLst>
              <a:path h="1412103" w="1259886">
                <a:moveTo>
                  <a:pt x="0" y="0"/>
                </a:moveTo>
                <a:lnTo>
                  <a:pt x="1259886" y="0"/>
                </a:lnTo>
                <a:lnTo>
                  <a:pt x="1259886" y="1412102"/>
                </a:lnTo>
                <a:lnTo>
                  <a:pt x="0" y="1412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8514057" y="8229291"/>
            <a:ext cx="1259886" cy="1412103"/>
          </a:xfrm>
          <a:custGeom>
            <a:avLst/>
            <a:gdLst/>
            <a:ahLst/>
            <a:cxnLst/>
            <a:rect r="r" b="b" t="t" l="l"/>
            <a:pathLst>
              <a:path h="1412103" w="1259886">
                <a:moveTo>
                  <a:pt x="0" y="0"/>
                </a:moveTo>
                <a:lnTo>
                  <a:pt x="1259886" y="0"/>
                </a:lnTo>
                <a:lnTo>
                  <a:pt x="1259886" y="1412102"/>
                </a:lnTo>
                <a:lnTo>
                  <a:pt x="0" y="1412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05155" y="-943164"/>
            <a:ext cx="2730731" cy="4114800"/>
          </a:xfrm>
          <a:custGeom>
            <a:avLst/>
            <a:gdLst/>
            <a:ahLst/>
            <a:cxnLst/>
            <a:rect r="r" b="b" t="t" l="l"/>
            <a:pathLst>
              <a:path h="4114800" w="2730731">
                <a:moveTo>
                  <a:pt x="0" y="0"/>
                </a:moveTo>
                <a:lnTo>
                  <a:pt x="2730731" y="0"/>
                </a:lnTo>
                <a:lnTo>
                  <a:pt x="27307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4300" y="8526249"/>
            <a:ext cx="1989877" cy="2230289"/>
          </a:xfrm>
          <a:custGeom>
            <a:avLst/>
            <a:gdLst/>
            <a:ahLst/>
            <a:cxnLst/>
            <a:rect r="r" b="b" t="t" l="l"/>
            <a:pathLst>
              <a:path h="2230289" w="1989877">
                <a:moveTo>
                  <a:pt x="0" y="0"/>
                </a:moveTo>
                <a:lnTo>
                  <a:pt x="1989876" y="0"/>
                </a:lnTo>
                <a:lnTo>
                  <a:pt x="1989876" y="2230289"/>
                </a:lnTo>
                <a:lnTo>
                  <a:pt x="0" y="2230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989877" y="420115"/>
            <a:ext cx="3317655" cy="1070608"/>
          </a:xfrm>
          <a:prstGeom prst="rect">
            <a:avLst/>
          </a:prstGeom>
        </p:spPr>
        <p:txBody>
          <a:bodyPr anchor="t" rtlCol="false" tIns="0" lIns="0" bIns="0" rIns="0">
            <a:spAutoFit/>
          </a:bodyPr>
          <a:lstStyle/>
          <a:p>
            <a:pPr algn="ctr">
              <a:lnSpc>
                <a:spcPts val="8645"/>
              </a:lnSpc>
              <a:spcBef>
                <a:spcPct val="0"/>
              </a:spcBef>
            </a:pPr>
            <a:r>
              <a:rPr lang="en-US" sz="6175">
                <a:solidFill>
                  <a:srgbClr val="000000"/>
                </a:solidFill>
                <a:latin typeface="Archivo Black"/>
                <a:ea typeface="Archivo Black"/>
                <a:cs typeface="Archivo Black"/>
                <a:sym typeface="Archivo Black"/>
              </a:rPr>
              <a:t>IMPACT</a:t>
            </a:r>
          </a:p>
        </p:txBody>
      </p:sp>
      <p:sp>
        <p:nvSpPr>
          <p:cNvPr name="TextBox 12" id="12"/>
          <p:cNvSpPr txBox="true"/>
          <p:nvPr/>
        </p:nvSpPr>
        <p:spPr>
          <a:xfrm rot="0">
            <a:off x="11984739" y="512257"/>
            <a:ext cx="4356776" cy="1070608"/>
          </a:xfrm>
          <a:prstGeom prst="rect">
            <a:avLst/>
          </a:prstGeom>
        </p:spPr>
        <p:txBody>
          <a:bodyPr anchor="t" rtlCol="false" tIns="0" lIns="0" bIns="0" rIns="0">
            <a:spAutoFit/>
          </a:bodyPr>
          <a:lstStyle/>
          <a:p>
            <a:pPr algn="ctr">
              <a:lnSpc>
                <a:spcPts val="8645"/>
              </a:lnSpc>
              <a:spcBef>
                <a:spcPct val="0"/>
              </a:spcBef>
            </a:pPr>
            <a:r>
              <a:rPr lang="en-US" sz="6175">
                <a:solidFill>
                  <a:srgbClr val="000000"/>
                </a:solidFill>
                <a:latin typeface="Archivo Black"/>
                <a:ea typeface="Archivo Black"/>
                <a:cs typeface="Archivo Black"/>
                <a:sym typeface="Archivo Black"/>
              </a:rPr>
              <a:t>BENEFITS</a:t>
            </a:r>
          </a:p>
        </p:txBody>
      </p:sp>
      <p:sp>
        <p:nvSpPr>
          <p:cNvPr name="TextBox 13" id="13"/>
          <p:cNvSpPr txBox="true"/>
          <p:nvPr/>
        </p:nvSpPr>
        <p:spPr>
          <a:xfrm rot="0">
            <a:off x="1306611" y="2146566"/>
            <a:ext cx="5896102" cy="7494827"/>
          </a:xfrm>
          <a:prstGeom prst="rect">
            <a:avLst/>
          </a:prstGeom>
        </p:spPr>
        <p:txBody>
          <a:bodyPr anchor="t" rtlCol="false" tIns="0" lIns="0" bIns="0" rIns="0">
            <a:spAutoFit/>
          </a:bodyPr>
          <a:lstStyle/>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Empowers disabled girls.</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Ensures health &amp; hygiene.</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Reduces caregiver stress.</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Promotes inclusivity.</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Affordable &amp; eco-friendly.</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Encourages social awareness.</a:t>
            </a:r>
          </a:p>
          <a:p>
            <a:pPr algn="ctr">
              <a:lnSpc>
                <a:spcPts val="4522"/>
              </a:lnSpc>
            </a:pPr>
          </a:p>
        </p:txBody>
      </p:sp>
      <p:sp>
        <p:nvSpPr>
          <p:cNvPr name="TextBox 14" id="14"/>
          <p:cNvSpPr txBox="true"/>
          <p:nvPr/>
        </p:nvSpPr>
        <p:spPr>
          <a:xfrm rot="0">
            <a:off x="11575253" y="1924359"/>
            <a:ext cx="5175747" cy="8639986"/>
          </a:xfrm>
          <a:prstGeom prst="rect">
            <a:avLst/>
          </a:prstGeom>
        </p:spPr>
        <p:txBody>
          <a:bodyPr anchor="t" rtlCol="false" tIns="0" lIns="0" bIns="0" rIns="0">
            <a:spAutoFit/>
          </a:bodyPr>
          <a:lstStyle/>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Self-Reliance</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Confidence Boost</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Hygiene Assurance</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Economic Feasibility</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Universal Accessibility</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Improved Quality of Life</a:t>
            </a:r>
          </a:p>
          <a:p>
            <a:pPr algn="ctr">
              <a:lnSpc>
                <a:spcPts val="4522"/>
              </a:lnSpc>
            </a:pPr>
          </a:p>
          <a:p>
            <a:pPr algn="ctr" marL="697458" indent="-348729" lvl="1">
              <a:lnSpc>
                <a:spcPts val="4522"/>
              </a:lnSpc>
              <a:buFont typeface="Arial"/>
              <a:buChar char="•"/>
            </a:pPr>
            <a:r>
              <a:rPr lang="en-US" b="true" sz="3230">
                <a:solidFill>
                  <a:srgbClr val="000000"/>
                </a:solidFill>
                <a:latin typeface="Arial Bold"/>
                <a:ea typeface="Arial Bold"/>
                <a:cs typeface="Arial Bold"/>
                <a:sym typeface="Arial Bold"/>
              </a:rPr>
              <a:t>Social Inclusion</a:t>
            </a:r>
          </a:p>
          <a:p>
            <a:pPr algn="ctr">
              <a:lnSpc>
                <a:spcPts val="452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F5F53"/>
        </a:solidFill>
      </p:bgPr>
    </p:bg>
    <p:spTree>
      <p:nvGrpSpPr>
        <p:cNvPr id="1" name=""/>
        <p:cNvGrpSpPr/>
        <p:nvPr/>
      </p:nvGrpSpPr>
      <p:grpSpPr>
        <a:xfrm>
          <a:off x="0" y="0"/>
          <a:ext cx="0" cy="0"/>
          <a:chOff x="0" y="0"/>
          <a:chExt cx="0" cy="0"/>
        </a:xfrm>
      </p:grpSpPr>
      <p:sp>
        <p:nvSpPr>
          <p:cNvPr name="Freeform 2" id="2"/>
          <p:cNvSpPr/>
          <p:nvPr/>
        </p:nvSpPr>
        <p:spPr>
          <a:xfrm flipH="false" flipV="false" rot="0">
            <a:off x="15639783" y="-2028012"/>
            <a:ext cx="5296434" cy="5296434"/>
          </a:xfrm>
          <a:custGeom>
            <a:avLst/>
            <a:gdLst/>
            <a:ahLst/>
            <a:cxnLst/>
            <a:rect r="r" b="b" t="t" l="l"/>
            <a:pathLst>
              <a:path h="5296434" w="5296434">
                <a:moveTo>
                  <a:pt x="0" y="0"/>
                </a:moveTo>
                <a:lnTo>
                  <a:pt x="5296434" y="0"/>
                </a:lnTo>
                <a:lnTo>
                  <a:pt x="5296434" y="5296434"/>
                </a:lnTo>
                <a:lnTo>
                  <a:pt x="0" y="52964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4548" y="-2648217"/>
            <a:ext cx="5296434" cy="5296434"/>
          </a:xfrm>
          <a:custGeom>
            <a:avLst/>
            <a:gdLst/>
            <a:ahLst/>
            <a:cxnLst/>
            <a:rect r="r" b="b" t="t" l="l"/>
            <a:pathLst>
              <a:path h="5296434" w="5296434">
                <a:moveTo>
                  <a:pt x="0" y="0"/>
                </a:moveTo>
                <a:lnTo>
                  <a:pt x="5296433" y="0"/>
                </a:lnTo>
                <a:lnTo>
                  <a:pt x="5296433" y="5296434"/>
                </a:lnTo>
                <a:lnTo>
                  <a:pt x="0" y="52964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383462" y="3152129"/>
            <a:ext cx="5522056" cy="6106171"/>
          </a:xfrm>
          <a:custGeom>
            <a:avLst/>
            <a:gdLst/>
            <a:ahLst/>
            <a:cxnLst/>
            <a:rect r="r" b="b" t="t" l="l"/>
            <a:pathLst>
              <a:path h="6106171" w="5522056">
                <a:moveTo>
                  <a:pt x="0" y="0"/>
                </a:moveTo>
                <a:lnTo>
                  <a:pt x="5522056" y="0"/>
                </a:lnTo>
                <a:lnTo>
                  <a:pt x="5522056" y="6106171"/>
                </a:lnTo>
                <a:lnTo>
                  <a:pt x="0" y="6106171"/>
                </a:lnTo>
                <a:lnTo>
                  <a:pt x="0" y="0"/>
                </a:lnTo>
                <a:close/>
              </a:path>
            </a:pathLst>
          </a:custGeom>
          <a:blipFill>
            <a:blip r:embed="rId4"/>
            <a:stretch>
              <a:fillRect l="0" t="-7456" r="-18822" b="0"/>
            </a:stretch>
          </a:blipFill>
        </p:spPr>
      </p:sp>
      <p:sp>
        <p:nvSpPr>
          <p:cNvPr name="TextBox 5" id="5"/>
          <p:cNvSpPr txBox="true"/>
          <p:nvPr/>
        </p:nvSpPr>
        <p:spPr>
          <a:xfrm rot="0">
            <a:off x="3851885" y="1321735"/>
            <a:ext cx="12251531" cy="1021480"/>
          </a:xfrm>
          <a:prstGeom prst="rect">
            <a:avLst/>
          </a:prstGeom>
        </p:spPr>
        <p:txBody>
          <a:bodyPr anchor="t" rtlCol="false" tIns="0" lIns="0" bIns="0" rIns="0">
            <a:spAutoFit/>
          </a:bodyPr>
          <a:lstStyle/>
          <a:p>
            <a:pPr algn="ctr">
              <a:lnSpc>
                <a:spcPts val="8272"/>
              </a:lnSpc>
              <a:spcBef>
                <a:spcPct val="0"/>
              </a:spcBef>
            </a:pPr>
            <a:r>
              <a:rPr lang="en-US" sz="5909">
                <a:solidFill>
                  <a:srgbClr val="FFFFFF"/>
                </a:solidFill>
                <a:latin typeface="Archivo Black"/>
                <a:ea typeface="Archivo Black"/>
                <a:cs typeface="Archivo Black"/>
                <a:sym typeface="Archivo Black"/>
              </a:rPr>
              <a:t>Conclusion and Future  Scope</a:t>
            </a:r>
          </a:p>
        </p:txBody>
      </p:sp>
      <p:sp>
        <p:nvSpPr>
          <p:cNvPr name="TextBox 6" id="6"/>
          <p:cNvSpPr txBox="true"/>
          <p:nvPr/>
        </p:nvSpPr>
        <p:spPr>
          <a:xfrm rot="0">
            <a:off x="557699" y="3032522"/>
            <a:ext cx="11506320" cy="2463095"/>
          </a:xfrm>
          <a:prstGeom prst="rect">
            <a:avLst/>
          </a:prstGeom>
        </p:spPr>
        <p:txBody>
          <a:bodyPr anchor="t" rtlCol="false" tIns="0" lIns="0" bIns="0" rIns="0">
            <a:spAutoFit/>
          </a:bodyPr>
          <a:lstStyle/>
          <a:p>
            <a:pPr algn="just">
              <a:lnSpc>
                <a:spcPts val="3888"/>
              </a:lnSpc>
              <a:spcBef>
                <a:spcPct val="0"/>
              </a:spcBef>
            </a:pPr>
            <a:r>
              <a:rPr lang="en-US" b="true" sz="2777">
                <a:solidFill>
                  <a:srgbClr val="FFFFFF"/>
                </a:solidFill>
                <a:latin typeface="Arial Bold"/>
                <a:ea typeface="Arial Bold"/>
                <a:cs typeface="Arial Bold"/>
                <a:sym typeface="Arial Bold"/>
              </a:rPr>
              <a:t>Our Period Alert System for Disabled Girls provides an innovative, affordable, and inclusive solution to track menstrual cycles using sensors, smart alerts, and mobile integration. It empowers disabled girls with independence, ensures hygiene, and promotes dignity while reducing caregiver stress.</a:t>
            </a:r>
          </a:p>
        </p:txBody>
      </p:sp>
      <p:sp>
        <p:nvSpPr>
          <p:cNvPr name="TextBox 7" id="7"/>
          <p:cNvSpPr txBox="true"/>
          <p:nvPr/>
        </p:nvSpPr>
        <p:spPr>
          <a:xfrm rot="0">
            <a:off x="557699" y="6428432"/>
            <a:ext cx="11506320" cy="3295480"/>
          </a:xfrm>
          <a:prstGeom prst="rect">
            <a:avLst/>
          </a:prstGeom>
        </p:spPr>
        <p:txBody>
          <a:bodyPr anchor="t" rtlCol="false" tIns="0" lIns="0" bIns="0" rIns="0">
            <a:spAutoFit/>
          </a:bodyPr>
          <a:lstStyle/>
          <a:p>
            <a:pPr algn="just">
              <a:lnSpc>
                <a:spcPts val="3684"/>
              </a:lnSpc>
            </a:pPr>
            <a:r>
              <a:rPr lang="en-US" sz="2631" b="true">
                <a:solidFill>
                  <a:srgbClr val="FFFFFF"/>
                </a:solidFill>
                <a:latin typeface="Arial Bold"/>
                <a:ea typeface="Arial Bold"/>
                <a:cs typeface="Arial Bold"/>
                <a:sym typeface="Arial Bold"/>
              </a:rPr>
              <a:t>Future Vision – Powering Tomorrow’s Health Tech</a:t>
            </a:r>
          </a:p>
          <a:p>
            <a:pPr algn="just" marL="568187" indent="-284093" lvl="1">
              <a:lnSpc>
                <a:spcPts val="3684"/>
              </a:lnSpc>
              <a:buFont typeface="Arial"/>
              <a:buChar char="•"/>
            </a:pPr>
            <a:r>
              <a:rPr lang="en-US" b="true" sz="2631">
                <a:solidFill>
                  <a:srgbClr val="FFFFFF"/>
                </a:solidFill>
                <a:latin typeface="Arial Bold"/>
                <a:ea typeface="Arial Bold"/>
                <a:cs typeface="Arial Bold"/>
                <a:sym typeface="Arial Bold"/>
              </a:rPr>
              <a:t>AI Intelligence → Personalized period predictions.</a:t>
            </a:r>
          </a:p>
          <a:p>
            <a:pPr algn="just" marL="568187" indent="-284093" lvl="1">
              <a:lnSpc>
                <a:spcPts val="3684"/>
              </a:lnSpc>
              <a:buFont typeface="Arial"/>
              <a:buChar char="•"/>
            </a:pPr>
            <a:r>
              <a:rPr lang="en-US" b="true" sz="2631">
                <a:solidFill>
                  <a:srgbClr val="FFFFFF"/>
                </a:solidFill>
                <a:latin typeface="Arial Bold"/>
                <a:ea typeface="Arial Bold"/>
                <a:cs typeface="Arial Bold"/>
                <a:sym typeface="Arial Bold"/>
              </a:rPr>
              <a:t>IoT Ecosystem → Seamless device-to-device connectivity.</a:t>
            </a:r>
          </a:p>
          <a:p>
            <a:pPr algn="just" marL="568187" indent="-284093" lvl="1">
              <a:lnSpc>
                <a:spcPts val="3684"/>
              </a:lnSpc>
              <a:buFont typeface="Arial"/>
              <a:buChar char="•"/>
            </a:pPr>
            <a:r>
              <a:rPr lang="en-US" b="true" sz="2631">
                <a:solidFill>
                  <a:srgbClr val="FFFFFF"/>
                </a:solidFill>
                <a:latin typeface="Arial Bold"/>
                <a:ea typeface="Arial Bold"/>
                <a:cs typeface="Arial Bold"/>
                <a:sym typeface="Arial Bold"/>
              </a:rPr>
              <a:t>Smart Nanotech Sensors → Invisible, washable, ultra-thin wearables.</a:t>
            </a:r>
          </a:p>
          <a:p>
            <a:pPr algn="just" marL="568187" indent="-284093" lvl="1">
              <a:lnSpc>
                <a:spcPts val="3684"/>
              </a:lnSpc>
              <a:buFont typeface="Arial"/>
              <a:buChar char="•"/>
            </a:pPr>
            <a:r>
              <a:rPr lang="en-US" b="true" sz="2631">
                <a:solidFill>
                  <a:srgbClr val="FFFFFF"/>
                </a:solidFill>
                <a:latin typeface="Arial Bold"/>
                <a:ea typeface="Arial Bold"/>
                <a:cs typeface="Arial Bold"/>
                <a:sym typeface="Arial Bold"/>
              </a:rPr>
              <a:t>Blockchain Privacy → 100% secure health data.</a:t>
            </a:r>
          </a:p>
          <a:p>
            <a:pPr algn="just" marL="568187" indent="-284093" lvl="1">
              <a:lnSpc>
                <a:spcPts val="3684"/>
              </a:lnSpc>
              <a:buFont typeface="Arial"/>
              <a:buChar char="•"/>
            </a:pPr>
            <a:r>
              <a:rPr lang="en-US" b="true" sz="2631">
                <a:solidFill>
                  <a:srgbClr val="FFFFFF"/>
                </a:solidFill>
                <a:latin typeface="Arial Bold"/>
                <a:ea typeface="Arial Bold"/>
                <a:cs typeface="Arial Bold"/>
                <a:sym typeface="Arial Bold"/>
              </a:rPr>
              <a:t>5G Instant Alerts → Lightning-fast, reliable notifications.</a:t>
            </a:r>
          </a:p>
          <a:p>
            <a:pPr algn="just">
              <a:lnSpc>
                <a:spcPts val="3684"/>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8EA"/>
        </a:solidFill>
      </p:bgPr>
    </p:bg>
    <p:spTree>
      <p:nvGrpSpPr>
        <p:cNvPr id="1" name=""/>
        <p:cNvGrpSpPr/>
        <p:nvPr/>
      </p:nvGrpSpPr>
      <p:grpSpPr>
        <a:xfrm>
          <a:off x="0" y="0"/>
          <a:ext cx="0" cy="0"/>
          <a:chOff x="0" y="0"/>
          <a:chExt cx="0" cy="0"/>
        </a:xfrm>
      </p:grpSpPr>
      <p:sp>
        <p:nvSpPr>
          <p:cNvPr name="TextBox 2" id="2"/>
          <p:cNvSpPr txBox="true"/>
          <p:nvPr/>
        </p:nvSpPr>
        <p:spPr>
          <a:xfrm rot="0">
            <a:off x="2359723" y="2649689"/>
            <a:ext cx="13956437" cy="3503896"/>
          </a:xfrm>
          <a:prstGeom prst="rect">
            <a:avLst/>
          </a:prstGeom>
        </p:spPr>
        <p:txBody>
          <a:bodyPr anchor="t" rtlCol="false" tIns="0" lIns="0" bIns="0" rIns="0">
            <a:spAutoFit/>
          </a:bodyPr>
          <a:lstStyle/>
          <a:p>
            <a:pPr algn="ctr">
              <a:lnSpc>
                <a:spcPts val="13382"/>
              </a:lnSpc>
            </a:pPr>
            <a:r>
              <a:rPr lang="en-US" sz="14389">
                <a:solidFill>
                  <a:srgbClr val="503530"/>
                </a:solidFill>
                <a:latin typeface="Genty"/>
                <a:ea typeface="Genty"/>
                <a:cs typeface="Genty"/>
                <a:sym typeface="Genty"/>
              </a:rPr>
              <a:t>Thank you for listening!</a:t>
            </a:r>
          </a:p>
        </p:txBody>
      </p:sp>
      <p:sp>
        <p:nvSpPr>
          <p:cNvPr name="Freeform 3" id="3"/>
          <p:cNvSpPr/>
          <p:nvPr/>
        </p:nvSpPr>
        <p:spPr>
          <a:xfrm flipH="false" flipV="false" rot="-825948">
            <a:off x="12263788" y="4270450"/>
            <a:ext cx="7047311" cy="7645012"/>
          </a:xfrm>
          <a:custGeom>
            <a:avLst/>
            <a:gdLst/>
            <a:ahLst/>
            <a:cxnLst/>
            <a:rect r="r" b="b" t="t" l="l"/>
            <a:pathLst>
              <a:path h="7645012" w="7047311">
                <a:moveTo>
                  <a:pt x="0" y="0"/>
                </a:moveTo>
                <a:lnTo>
                  <a:pt x="7047311" y="0"/>
                </a:lnTo>
                <a:lnTo>
                  <a:pt x="7047311" y="7645012"/>
                </a:lnTo>
                <a:lnTo>
                  <a:pt x="0" y="76450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07509">
            <a:off x="-1514938" y="4962158"/>
            <a:ext cx="8579739" cy="6583000"/>
          </a:xfrm>
          <a:custGeom>
            <a:avLst/>
            <a:gdLst/>
            <a:ahLst/>
            <a:cxnLst/>
            <a:rect r="r" b="b" t="t" l="l"/>
            <a:pathLst>
              <a:path h="6583000" w="8579739">
                <a:moveTo>
                  <a:pt x="0" y="0"/>
                </a:moveTo>
                <a:lnTo>
                  <a:pt x="8579739" y="0"/>
                </a:lnTo>
                <a:lnTo>
                  <a:pt x="8579739" y="6583000"/>
                </a:lnTo>
                <a:lnTo>
                  <a:pt x="0" y="6583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DAGwzNQqGa4</dc:identifier>
  <dcterms:modified xsi:type="dcterms:W3CDTF">2011-08-01T06:04:30Z</dcterms:modified>
  <cp:revision>1</cp:revision>
  <dc:title>“EmpowerHer : A Smart Period Alert System for Differently - Abled Girls”</dc:title>
</cp:coreProperties>
</file>